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</p:sldIdLst>
  <p:sldSz cx="12801600" cy="9601200" type="A3"/>
  <p:notesSz cx="12801600" cy="96012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0D17544-8002-42E8-A648-1070E92AAC88}" v="460" dt="2026-04-29T20:30:31.212"/>
  </p1510:revLst>
</p1510:revInfo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0" d="100"/>
          <a:sy n="60" d="100"/>
        </p:scale>
        <p:origin x="1173" y="33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7" Type="http://schemas.microsoft.com/office/2015/10/relationships/revisionInfo" Target="revisionInfo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60120" y="2976372"/>
            <a:ext cx="10881360" cy="201625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920240" y="5376672"/>
            <a:ext cx="8961120" cy="24003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4/29/2026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4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4/29/2026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4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40080" y="2208276"/>
            <a:ext cx="5568696" cy="633679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592824" y="2208276"/>
            <a:ext cx="5568696" cy="633679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4/29/2026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4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4/29/2026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4/29/2026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91275" y="284926"/>
            <a:ext cx="5857240" cy="12077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40080" y="2208276"/>
            <a:ext cx="11521440" cy="633679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352544" y="8929116"/>
            <a:ext cx="4096512" cy="48006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40080" y="8929116"/>
            <a:ext cx="2944368" cy="48006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4/29/2026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9217152" y="8929116"/>
            <a:ext cx="2944368" cy="48006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https://sdgs.un.org/goals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77828" y="284926"/>
            <a:ext cx="5830346" cy="1256754"/>
          </a:xfrm>
          <a:prstGeom prst="rect">
            <a:avLst/>
          </a:prstGeom>
          <a:ln w="25399">
            <a:solidFill>
              <a:srgbClr val="7F7F7F"/>
            </a:solidFill>
          </a:ln>
        </p:spPr>
        <p:txBody>
          <a:bodyPr vert="horz" wrap="square" lIns="0" tIns="25400" rIns="0" bIns="0" rtlCol="0" anchor="t">
            <a:spAutoFit/>
          </a:bodyPr>
          <a:lstStyle/>
          <a:p>
            <a:pPr marL="85725" marR="3598545">
              <a:spcBef>
                <a:spcPts val="200"/>
              </a:spcBef>
            </a:pPr>
            <a:r>
              <a:rPr sz="2000" dirty="0"/>
              <a:t>PROJECT</a:t>
            </a:r>
            <a:r>
              <a:rPr sz="2000" spc="-135" dirty="0"/>
              <a:t> </a:t>
            </a:r>
            <a:r>
              <a:rPr sz="2000" spc="-10" dirty="0"/>
              <a:t>NAME:</a:t>
            </a:r>
            <a:r>
              <a:rPr lang="en-GB" sz="2000" spc="-10" dirty="0"/>
              <a:t> </a:t>
            </a:r>
            <a:r>
              <a:rPr lang="en-GB" sz="2000" spc="-10" err="1"/>
              <a:t>FinStart</a:t>
            </a:r>
            <a:br>
              <a:rPr lang="en-US" sz="2000" dirty="0"/>
            </a:br>
            <a:r>
              <a:rPr sz="2000" dirty="0"/>
              <a:t>TEAM</a:t>
            </a:r>
            <a:r>
              <a:rPr sz="2000" spc="-65" dirty="0"/>
              <a:t> </a:t>
            </a:r>
            <a:r>
              <a:rPr sz="2000" spc="-10" dirty="0"/>
              <a:t>MEMBERS:</a:t>
            </a:r>
            <a:r>
              <a:rPr lang="en-GB" sz="2000" spc="-10" dirty="0"/>
              <a:t> Dasca</a:t>
            </a:r>
            <a:r>
              <a:rPr lang="en-GB" sz="2000" spc="-10"/>
              <a:t>lu Luca-Petru</a:t>
            </a:r>
            <a:endParaRPr lang="en-US" sz="2000" spc="-10">
              <a:ea typeface="Calibri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373412" y="2414462"/>
            <a:ext cx="11819255" cy="529590"/>
          </a:xfrm>
          <a:custGeom>
            <a:avLst/>
            <a:gdLst/>
            <a:ahLst/>
            <a:cxnLst/>
            <a:rect l="l" t="t" r="r" b="b"/>
            <a:pathLst>
              <a:path w="11819255" h="529589">
                <a:moveTo>
                  <a:pt x="0" y="12"/>
                </a:moveTo>
                <a:lnTo>
                  <a:pt x="5892899" y="12"/>
                </a:lnTo>
                <a:lnTo>
                  <a:pt x="5892899" y="520512"/>
                </a:lnTo>
                <a:lnTo>
                  <a:pt x="0" y="520512"/>
                </a:lnTo>
                <a:lnTo>
                  <a:pt x="0" y="12"/>
                </a:lnTo>
                <a:close/>
              </a:path>
              <a:path w="11819255" h="529589">
                <a:moveTo>
                  <a:pt x="5925762" y="0"/>
                </a:moveTo>
                <a:lnTo>
                  <a:pt x="11818662" y="0"/>
                </a:lnTo>
                <a:lnTo>
                  <a:pt x="11818662" y="529499"/>
                </a:lnTo>
                <a:lnTo>
                  <a:pt x="5925762" y="529499"/>
                </a:lnTo>
                <a:lnTo>
                  <a:pt x="5925762" y="0"/>
                </a:lnTo>
                <a:close/>
              </a:path>
            </a:pathLst>
          </a:custGeom>
          <a:ln w="25399">
            <a:solidFill>
              <a:srgbClr val="7F7F7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180746" y="3024623"/>
            <a:ext cx="6100566" cy="3109604"/>
          </a:xfrm>
          <a:custGeom>
            <a:avLst/>
            <a:gdLst/>
            <a:ahLst/>
            <a:cxnLst/>
            <a:rect l="l" t="t" r="r" b="b"/>
            <a:pathLst>
              <a:path w="5895975" h="3094990">
                <a:moveTo>
                  <a:pt x="2699" y="0"/>
                </a:moveTo>
                <a:lnTo>
                  <a:pt x="5895599" y="0"/>
                </a:lnTo>
                <a:lnTo>
                  <a:pt x="5895599" y="2550899"/>
                </a:lnTo>
                <a:lnTo>
                  <a:pt x="2699" y="2550899"/>
                </a:lnTo>
                <a:lnTo>
                  <a:pt x="2699" y="0"/>
                </a:lnTo>
                <a:close/>
              </a:path>
              <a:path w="5895975" h="3094990">
                <a:moveTo>
                  <a:pt x="0" y="2574367"/>
                </a:moveTo>
                <a:lnTo>
                  <a:pt x="3896399" y="2574367"/>
                </a:lnTo>
                <a:lnTo>
                  <a:pt x="3896399" y="3094867"/>
                </a:lnTo>
                <a:lnTo>
                  <a:pt x="0" y="3094867"/>
                </a:lnTo>
                <a:lnTo>
                  <a:pt x="0" y="2574367"/>
                </a:lnTo>
                <a:close/>
              </a:path>
            </a:pathLst>
          </a:custGeom>
          <a:ln w="25399">
            <a:solidFill>
              <a:srgbClr val="7F7F7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443749" y="5641425"/>
            <a:ext cx="273939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Calibri"/>
                <a:cs typeface="Calibri"/>
              </a:rPr>
              <a:t>3.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SMART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OBJECTIVES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4300125" y="5623717"/>
            <a:ext cx="3896995" cy="529590"/>
          </a:xfrm>
          <a:custGeom>
            <a:avLst/>
            <a:gdLst/>
            <a:ahLst/>
            <a:cxnLst/>
            <a:rect l="l" t="t" r="r" b="b"/>
            <a:pathLst>
              <a:path w="3896995" h="529589">
                <a:moveTo>
                  <a:pt x="0" y="0"/>
                </a:moveTo>
                <a:lnTo>
                  <a:pt x="3896399" y="0"/>
                </a:lnTo>
                <a:lnTo>
                  <a:pt x="3896399" y="529499"/>
                </a:lnTo>
                <a:lnTo>
                  <a:pt x="0" y="529499"/>
                </a:lnTo>
                <a:lnTo>
                  <a:pt x="0" y="0"/>
                </a:lnTo>
                <a:close/>
              </a:path>
            </a:pathLst>
          </a:custGeom>
          <a:ln w="25399">
            <a:solidFill>
              <a:srgbClr val="7F7F7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4373150" y="5636926"/>
            <a:ext cx="1036319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Calibri"/>
                <a:cs typeface="Calibri"/>
              </a:rPr>
              <a:t>4.</a:t>
            </a:r>
            <a:r>
              <a:rPr sz="2400" spc="-10" dirty="0">
                <a:latin typeface="Calibri"/>
                <a:cs typeface="Calibri"/>
              </a:rPr>
              <a:t> PRICE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376966" y="6201345"/>
            <a:ext cx="4057744" cy="3687653"/>
          </a:xfrm>
          <a:prstGeom prst="rect">
            <a:avLst/>
          </a:prstGeom>
          <a:ln w="25399">
            <a:solidFill>
              <a:srgbClr val="7F7F7F"/>
            </a:solidFill>
          </a:ln>
        </p:spPr>
        <p:txBody>
          <a:bodyPr vert="horz" wrap="square" lIns="0" tIns="27940" rIns="0" bIns="0" rtlCol="0" anchor="t">
            <a:spAutoFit/>
          </a:bodyPr>
          <a:lstStyle/>
          <a:p>
            <a:r>
              <a:rPr lang="en-GB" b="1" dirty="0"/>
              <a:t>Phase 1 — Free (Launch, May 2026)</a:t>
            </a:r>
            <a:r>
              <a:rPr lang="en-GB" dirty="0"/>
              <a:t> Full access to all content at zero cost. Goal: user acquisition and trust building. No ads — maintaining content integrity is non-negotiable for a financial education platform.</a:t>
            </a:r>
          </a:p>
          <a:p>
            <a:r>
              <a:rPr lang="en-GB" b="1"/>
              <a:t>Phase 2 — Freemium (Q1 2027)</a:t>
            </a:r>
          </a:p>
          <a:p>
            <a:pPr>
              <a:buFont typeface=""/>
              <a:buChar char="•"/>
            </a:pPr>
            <a:r>
              <a:rPr lang="en-GB"/>
              <a:t>Free tier: access to foundational articles (3 categories)</a:t>
            </a:r>
          </a:p>
          <a:p>
            <a:pPr>
              <a:buFont typeface=""/>
              <a:buChar char="•"/>
            </a:pPr>
            <a:r>
              <a:rPr lang="en-GB"/>
              <a:t>Premium tier: 4.99 EUR/year — full library, new weekly articles, investment calculators, quiz features</a:t>
            </a:r>
          </a:p>
          <a:p>
            <a:endParaRPr lang="en-GB" dirty="0">
              <a:solidFill>
                <a:srgbClr val="000000"/>
              </a:solidFill>
            </a:endParaRPr>
          </a:p>
        </p:txBody>
      </p:sp>
      <p:sp>
        <p:nvSpPr>
          <p:cNvPr id="9" name="object 9"/>
          <p:cNvSpPr/>
          <p:nvPr/>
        </p:nvSpPr>
        <p:spPr>
          <a:xfrm>
            <a:off x="8302593" y="5628217"/>
            <a:ext cx="4306177" cy="520700"/>
          </a:xfrm>
          <a:custGeom>
            <a:avLst/>
            <a:gdLst/>
            <a:ahLst/>
            <a:cxnLst/>
            <a:rect l="l" t="t" r="r" b="b"/>
            <a:pathLst>
              <a:path w="3896995" h="520700">
                <a:moveTo>
                  <a:pt x="0" y="0"/>
                </a:moveTo>
                <a:lnTo>
                  <a:pt x="3896399" y="0"/>
                </a:lnTo>
                <a:lnTo>
                  <a:pt x="3896399" y="520499"/>
                </a:lnTo>
                <a:lnTo>
                  <a:pt x="0" y="520499"/>
                </a:lnTo>
                <a:lnTo>
                  <a:pt x="0" y="0"/>
                </a:lnTo>
                <a:close/>
              </a:path>
            </a:pathLst>
          </a:custGeom>
          <a:ln w="25399">
            <a:solidFill>
              <a:srgbClr val="7F7F7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8550982" y="5699880"/>
            <a:ext cx="190563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10" dirty="0">
                <a:latin typeface="Calibri"/>
                <a:cs typeface="Calibri"/>
              </a:rPr>
              <a:t>5.</a:t>
            </a:r>
            <a:r>
              <a:rPr sz="2400" spc="-14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PROMOTION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8543957" y="6201470"/>
            <a:ext cx="4379246" cy="3747180"/>
          </a:xfrm>
          <a:prstGeom prst="rect">
            <a:avLst/>
          </a:prstGeom>
          <a:ln w="25399">
            <a:solidFill>
              <a:srgbClr val="7F7F7F"/>
            </a:solidFill>
          </a:ln>
        </p:spPr>
        <p:txBody>
          <a:bodyPr vert="horz" wrap="square" lIns="0" tIns="27940" rIns="0" bIns="0" rtlCol="0" anchor="t">
            <a:spAutoFit/>
          </a:bodyPr>
          <a:lstStyle/>
          <a:p>
            <a:pPr algn="l"/>
            <a:r>
              <a:rPr lang="en-US" sz="2000" spc="-10" dirty="0">
                <a:solidFill>
                  <a:schemeClr val="tx1"/>
                </a:solidFill>
              </a:rPr>
              <a:t>1. Short-form content on TikTok and Instagram targeting youths. Format:  financial facts, myth-busting reels (ex: "De </a:t>
            </a:r>
            <a:r>
              <a:rPr lang="en-US" sz="2000" spc="-10" dirty="0" err="1">
                <a:solidFill>
                  <a:schemeClr val="tx1"/>
                </a:solidFill>
              </a:rPr>
              <a:t>ce</a:t>
            </a:r>
            <a:r>
              <a:rPr lang="en-US" sz="2000" spc="-10" dirty="0">
                <a:solidFill>
                  <a:schemeClr val="tx1"/>
                </a:solidFill>
              </a:rPr>
              <a:t> nu e bine </a:t>
            </a:r>
            <a:r>
              <a:rPr lang="en-US" sz="2000" spc="-10" dirty="0" err="1">
                <a:solidFill>
                  <a:schemeClr val="tx1"/>
                </a:solidFill>
              </a:rPr>
              <a:t>să</a:t>
            </a:r>
            <a:r>
              <a:rPr lang="en-US" sz="2000" spc="-10" dirty="0">
                <a:solidFill>
                  <a:schemeClr val="tx1"/>
                </a:solidFill>
              </a:rPr>
              <a:t> </a:t>
            </a:r>
            <a:r>
              <a:rPr lang="en-US" sz="2000" spc="-10" dirty="0" err="1">
                <a:solidFill>
                  <a:schemeClr val="tx1"/>
                </a:solidFill>
              </a:rPr>
              <a:t>ții</a:t>
            </a:r>
            <a:r>
              <a:rPr lang="en-US" sz="2000" spc="-10" dirty="0">
                <a:solidFill>
                  <a:schemeClr val="tx1"/>
                </a:solidFill>
              </a:rPr>
              <a:t> </a:t>
            </a:r>
            <a:r>
              <a:rPr lang="en-US" sz="2000" spc="-10" dirty="0" err="1">
                <a:solidFill>
                  <a:schemeClr val="tx1"/>
                </a:solidFill>
              </a:rPr>
              <a:t>banii</a:t>
            </a:r>
            <a:r>
              <a:rPr lang="en-US" sz="2000" spc="-10" dirty="0">
                <a:solidFill>
                  <a:schemeClr val="tx1"/>
                </a:solidFill>
              </a:rPr>
              <a:t> la </a:t>
            </a:r>
            <a:r>
              <a:rPr lang="en-US" sz="2000" spc="-10" dirty="0" err="1">
                <a:solidFill>
                  <a:schemeClr val="tx1"/>
                </a:solidFill>
              </a:rPr>
              <a:t>saltea</a:t>
            </a:r>
            <a:r>
              <a:rPr lang="en-US" sz="2000" spc="-10" dirty="0">
                <a:solidFill>
                  <a:schemeClr val="tx1"/>
                </a:solidFill>
              </a:rPr>
              <a:t>"), all driving to app download.</a:t>
            </a:r>
            <a:endParaRPr lang="en-US" dirty="0">
              <a:solidFill>
                <a:schemeClr val="tx1"/>
              </a:solidFill>
            </a:endParaRPr>
          </a:p>
          <a:p>
            <a:pPr algn="l"/>
            <a:r>
              <a:rPr lang="en-US" sz="2000" spc="-10">
                <a:solidFill>
                  <a:schemeClr val="tx1"/>
                </a:solidFill>
              </a:rPr>
              <a:t>2. Presentations at Romanian high schools and universities as a free financial literacy resource. </a:t>
            </a:r>
          </a:p>
          <a:p>
            <a:pPr algn="l"/>
            <a:r>
              <a:rPr lang="en-US" sz="2000" b="1" spc="-10" dirty="0">
                <a:solidFill>
                  <a:schemeClr val="tx1"/>
                </a:solidFill>
              </a:rPr>
              <a:t>Key message across all channels:</a:t>
            </a:r>
            <a:r>
              <a:rPr lang="en-US" sz="2000" spc="-10" dirty="0">
                <a:solidFill>
                  <a:schemeClr val="tx1"/>
                </a:solidFill>
              </a:rPr>
              <a:t> </a:t>
            </a:r>
            <a:r>
              <a:rPr lang="en-US" sz="2000" i="1" spc="-10" dirty="0">
                <a:solidFill>
                  <a:schemeClr val="tx1"/>
                </a:solidFill>
              </a:rPr>
              <a:t>"</a:t>
            </a:r>
            <a:r>
              <a:rPr lang="en-US" sz="2000" i="1" spc="-10" dirty="0" err="1">
                <a:solidFill>
                  <a:schemeClr val="tx1"/>
                </a:solidFill>
              </a:rPr>
              <a:t>Educația</a:t>
            </a:r>
            <a:r>
              <a:rPr lang="en-US" sz="2000" i="1" spc="-10" dirty="0">
                <a:solidFill>
                  <a:schemeClr val="tx1"/>
                </a:solidFill>
              </a:rPr>
              <a:t> </a:t>
            </a:r>
            <a:r>
              <a:rPr lang="en-US" sz="2000" i="1" spc="-10" dirty="0" err="1">
                <a:solidFill>
                  <a:schemeClr val="tx1"/>
                </a:solidFill>
              </a:rPr>
              <a:t>financiară</a:t>
            </a:r>
            <a:r>
              <a:rPr lang="en-US" sz="2000" i="1" spc="-10" dirty="0">
                <a:solidFill>
                  <a:schemeClr val="tx1"/>
                </a:solidFill>
              </a:rPr>
              <a:t> nu e </a:t>
            </a:r>
            <a:r>
              <a:rPr lang="en-US" sz="2000" i="1" spc="-10" dirty="0" err="1">
                <a:solidFill>
                  <a:schemeClr val="tx1"/>
                </a:solidFill>
              </a:rPr>
              <a:t>pentru</a:t>
            </a:r>
            <a:r>
              <a:rPr lang="en-US" sz="2000" i="1" spc="-10" dirty="0">
                <a:solidFill>
                  <a:schemeClr val="tx1"/>
                </a:solidFill>
              </a:rPr>
              <a:t> </a:t>
            </a:r>
            <a:r>
              <a:rPr lang="en-US" sz="2000" i="1" spc="-10" dirty="0" err="1">
                <a:solidFill>
                  <a:schemeClr val="tx1"/>
                </a:solidFill>
              </a:rPr>
              <a:t>bogați</a:t>
            </a:r>
            <a:r>
              <a:rPr lang="en-US" sz="2000" i="1" spc="-10" dirty="0">
                <a:solidFill>
                  <a:schemeClr val="tx1"/>
                </a:solidFill>
              </a:rPr>
              <a:t>. E </a:t>
            </a:r>
            <a:r>
              <a:rPr lang="en-US" sz="2000" i="1" spc="-10" dirty="0" err="1">
                <a:solidFill>
                  <a:schemeClr val="tx1"/>
                </a:solidFill>
              </a:rPr>
              <a:t>pentru</a:t>
            </a:r>
            <a:r>
              <a:rPr lang="en-US" sz="2000" i="1" spc="-10" dirty="0">
                <a:solidFill>
                  <a:schemeClr val="tx1"/>
                </a:solidFill>
              </a:rPr>
              <a:t> </a:t>
            </a:r>
            <a:r>
              <a:rPr lang="en-US" sz="2000" i="1" spc="-10" dirty="0" err="1">
                <a:solidFill>
                  <a:schemeClr val="tx1"/>
                </a:solidFill>
              </a:rPr>
              <a:t>toți</a:t>
            </a:r>
            <a:r>
              <a:rPr lang="en-US" sz="2000" i="1" spc="-10" dirty="0">
                <a:solidFill>
                  <a:schemeClr val="tx1"/>
                </a:solidFill>
              </a:rPr>
              <a:t>."</a:t>
            </a:r>
            <a:endParaRPr lang="en-GB">
              <a:solidFill>
                <a:schemeClr val="tx1"/>
              </a:solidFill>
            </a:endParaRPr>
          </a:p>
          <a:p>
            <a:pPr marL="85725">
              <a:lnSpc>
                <a:spcPct val="100000"/>
              </a:lnSpc>
              <a:spcBef>
                <a:spcPts val="220"/>
              </a:spcBef>
            </a:pPr>
            <a:endParaRPr sz="2000" spc="-10" dirty="0">
              <a:solidFill>
                <a:schemeClr val="tx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6290130" y="284926"/>
            <a:ext cx="5843793" cy="1256754"/>
          </a:xfrm>
          <a:prstGeom prst="rect">
            <a:avLst/>
          </a:prstGeom>
          <a:ln w="25399">
            <a:solidFill>
              <a:srgbClr val="7F7F7F"/>
            </a:solidFill>
          </a:ln>
        </p:spPr>
        <p:txBody>
          <a:bodyPr vert="horz" wrap="square" lIns="0" tIns="25400" rIns="0" bIns="0" rtlCol="0" anchor="t">
            <a:spAutoFit/>
          </a:bodyPr>
          <a:lstStyle/>
          <a:p>
            <a:pPr marL="85090">
              <a:spcBef>
                <a:spcPts val="200"/>
              </a:spcBef>
            </a:pPr>
            <a:r>
              <a:rPr sz="1600" dirty="0">
                <a:latin typeface="Calibri"/>
                <a:cs typeface="Calibri"/>
              </a:rPr>
              <a:t>IDEA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IN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SHORT:</a:t>
            </a:r>
            <a:r>
              <a:rPr lang="en-US" sz="1600" spc="-10" dirty="0">
                <a:latin typeface="Calibri"/>
                <a:ea typeface="Calibri"/>
                <a:cs typeface="Calibri"/>
              </a:rPr>
              <a:t> </a:t>
            </a:r>
            <a:r>
              <a:rPr lang="en-US" sz="1600" spc="-10" dirty="0" err="1"/>
              <a:t>FinStart</a:t>
            </a:r>
            <a:r>
              <a:rPr lang="en-US" sz="1600" spc="-10" dirty="0"/>
              <a:t> is a free Android app that teaches young Romanians how money, inflation, and investments work — starting from absolute zero. In a country where most people don't invest because they simply don't know how, </a:t>
            </a:r>
            <a:r>
              <a:rPr lang="en-US" sz="1600" spc="-10" dirty="0" err="1"/>
              <a:t>FinStart</a:t>
            </a:r>
            <a:r>
              <a:rPr lang="en-US" sz="1600" spc="-10" dirty="0"/>
              <a:t> is the first step toward financial inclusion and long-term resilience.</a:t>
            </a:r>
            <a:endParaRPr sz="1600" dirty="0">
              <a:latin typeface="Calibri"/>
              <a:cs typeface="Calibri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370724" y="1611287"/>
            <a:ext cx="11821795" cy="684530"/>
          </a:xfrm>
          <a:custGeom>
            <a:avLst/>
            <a:gdLst/>
            <a:ahLst/>
            <a:cxnLst/>
            <a:rect l="l" t="t" r="r" b="b"/>
            <a:pathLst>
              <a:path w="11821795" h="684530">
                <a:moveTo>
                  <a:pt x="0" y="0"/>
                </a:moveTo>
                <a:lnTo>
                  <a:pt x="11821199" y="0"/>
                </a:lnTo>
                <a:lnTo>
                  <a:pt x="11821199" y="684299"/>
                </a:lnTo>
                <a:lnTo>
                  <a:pt x="0" y="684299"/>
                </a:lnTo>
                <a:lnTo>
                  <a:pt x="0" y="0"/>
                </a:lnTo>
                <a:close/>
              </a:path>
            </a:pathLst>
          </a:custGeom>
          <a:ln w="25399">
            <a:solidFill>
              <a:srgbClr val="7F7F7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/>
          <p:nvPr/>
        </p:nvSpPr>
        <p:spPr>
          <a:xfrm>
            <a:off x="439411" y="1605579"/>
            <a:ext cx="11211134" cy="127983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491615">
              <a:lnSpc>
                <a:spcPct val="100000"/>
              </a:lnSpc>
              <a:spcBef>
                <a:spcPts val="100"/>
              </a:spcBef>
            </a:pPr>
            <a:r>
              <a:rPr sz="4000" b="1" dirty="0">
                <a:latin typeface="Cambria"/>
                <a:cs typeface="Cambria"/>
              </a:rPr>
              <a:t>Hardcore</a:t>
            </a:r>
            <a:r>
              <a:rPr sz="4000" b="1" spc="-60" dirty="0">
                <a:latin typeface="Cambria"/>
                <a:cs typeface="Cambria"/>
              </a:rPr>
              <a:t> </a:t>
            </a:r>
            <a:r>
              <a:rPr lang="en-US" sz="4000" b="1" spc="-60" dirty="0">
                <a:solidFill>
                  <a:srgbClr val="F13662"/>
                </a:solidFill>
                <a:latin typeface="Arial MT"/>
                <a:cs typeface="Cambria"/>
              </a:rPr>
              <a:t>Entrepreneur</a:t>
            </a:r>
            <a:r>
              <a:rPr sz="4000" spc="-130" dirty="0">
                <a:solidFill>
                  <a:srgbClr val="F13662"/>
                </a:solidFill>
                <a:latin typeface="Arial MT"/>
                <a:cs typeface="Arial MT"/>
              </a:rPr>
              <a:t> </a:t>
            </a:r>
            <a:r>
              <a:rPr sz="4000" b="1">
                <a:latin typeface="Cambria"/>
                <a:cs typeface="Cambria"/>
              </a:rPr>
              <a:t>hackathon</a:t>
            </a:r>
            <a:r>
              <a:rPr sz="4000" b="1" spc="-60">
                <a:latin typeface="Cambria"/>
                <a:cs typeface="Cambria"/>
              </a:rPr>
              <a:t> </a:t>
            </a:r>
            <a:r>
              <a:rPr lang="en-US" sz="4000" b="1" spc="-25" dirty="0">
                <a:solidFill>
                  <a:srgbClr val="F13662"/>
                </a:solidFill>
                <a:latin typeface="Arial MT"/>
                <a:cs typeface="Cambria"/>
              </a:rPr>
              <a:t>6</a:t>
            </a:r>
            <a:r>
              <a:rPr lang="en-US" sz="4000" b="1" spc="-25">
                <a:solidFill>
                  <a:srgbClr val="F13662"/>
                </a:solidFill>
                <a:latin typeface="Arial MT"/>
                <a:cs typeface="Cambria"/>
              </a:rPr>
              <a:t>.0</a:t>
            </a:r>
            <a:endParaRPr sz="4000" dirty="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2190"/>
              </a:spcBef>
              <a:tabLst>
                <a:tab pos="5937885" algn="l"/>
              </a:tabLst>
            </a:pPr>
            <a:r>
              <a:rPr sz="2400" dirty="0">
                <a:latin typeface="Calibri"/>
                <a:cs typeface="Calibri"/>
              </a:rPr>
              <a:t>1.PRODUCT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-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PROBLEM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WE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SOLVE</a:t>
            </a:r>
            <a:r>
              <a:rPr sz="2400" dirty="0">
                <a:latin typeface="Calibri"/>
                <a:cs typeface="Calibri"/>
              </a:rPr>
              <a:t>	2.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OUR</a:t>
            </a:r>
            <a:r>
              <a:rPr sz="2400" spc="-35" dirty="0">
                <a:latin typeface="Calibri"/>
                <a:cs typeface="Calibri"/>
              </a:rPr>
              <a:t> TARGET </a:t>
            </a:r>
            <a:r>
              <a:rPr sz="2400" spc="-10" dirty="0">
                <a:latin typeface="Calibri"/>
                <a:cs typeface="Calibri"/>
              </a:rPr>
              <a:t>GROUP</a:t>
            </a:r>
            <a:r>
              <a:rPr lang="en-US" sz="2400" spc="-10" dirty="0">
                <a:latin typeface="Calibri"/>
                <a:cs typeface="Calibri"/>
              </a:rPr>
              <a:t> &amp; </a:t>
            </a:r>
            <a:r>
              <a:rPr lang="en-US" sz="2400" spc="-10" dirty="0">
                <a:latin typeface="Calibri"/>
                <a:cs typeface="Calibri"/>
                <a:hlinkClick r:id="rId2"/>
              </a:rPr>
              <a:t>SDGs </a:t>
            </a:r>
            <a:endParaRPr sz="2400" dirty="0">
              <a:latin typeface="Calibri"/>
              <a:cs typeface="Calibri"/>
            </a:endParaRPr>
          </a:p>
        </p:txBody>
      </p:sp>
      <p:grpSp>
        <p:nvGrpSpPr>
          <p:cNvPr id="17" name="object 17"/>
          <p:cNvGrpSpPr/>
          <p:nvPr/>
        </p:nvGrpSpPr>
        <p:grpSpPr>
          <a:xfrm>
            <a:off x="5728699" y="2476036"/>
            <a:ext cx="6354445" cy="406400"/>
            <a:chOff x="5728699" y="2476036"/>
            <a:chExt cx="6354445" cy="406400"/>
          </a:xfrm>
        </p:grpSpPr>
        <p:sp>
          <p:nvSpPr>
            <p:cNvPr id="18" name="object 18"/>
            <p:cNvSpPr/>
            <p:nvPr/>
          </p:nvSpPr>
          <p:spPr>
            <a:xfrm>
              <a:off x="5741399" y="2488736"/>
              <a:ext cx="412115" cy="381000"/>
            </a:xfrm>
            <a:custGeom>
              <a:avLst/>
              <a:gdLst/>
              <a:ahLst/>
              <a:cxnLst/>
              <a:rect l="l" t="t" r="r" b="b"/>
              <a:pathLst>
                <a:path w="412114" h="381000">
                  <a:moveTo>
                    <a:pt x="411899" y="380999"/>
                  </a:moveTo>
                  <a:lnTo>
                    <a:pt x="0" y="380999"/>
                  </a:lnTo>
                  <a:lnTo>
                    <a:pt x="0" y="0"/>
                  </a:lnTo>
                  <a:lnTo>
                    <a:pt x="411899" y="0"/>
                  </a:lnTo>
                  <a:lnTo>
                    <a:pt x="411899" y="380999"/>
                  </a:lnTo>
                  <a:close/>
                </a:path>
              </a:pathLst>
            </a:custGeom>
            <a:solidFill>
              <a:srgbClr val="FF7B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5741399" y="2488736"/>
              <a:ext cx="412115" cy="381000"/>
            </a:xfrm>
            <a:custGeom>
              <a:avLst/>
              <a:gdLst/>
              <a:ahLst/>
              <a:cxnLst/>
              <a:rect l="l" t="t" r="r" b="b"/>
              <a:pathLst>
                <a:path w="412114" h="381000">
                  <a:moveTo>
                    <a:pt x="0" y="0"/>
                  </a:moveTo>
                  <a:lnTo>
                    <a:pt x="411899" y="0"/>
                  </a:lnTo>
                  <a:lnTo>
                    <a:pt x="411899" y="380999"/>
                  </a:lnTo>
                  <a:lnTo>
                    <a:pt x="0" y="380999"/>
                  </a:lnTo>
                  <a:lnTo>
                    <a:pt x="0" y="0"/>
                  </a:lnTo>
                  <a:close/>
                </a:path>
              </a:pathLst>
            </a:custGeom>
            <a:ln w="25399">
              <a:solidFill>
                <a:srgbClr val="00B05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11658550" y="2488736"/>
              <a:ext cx="412115" cy="381000"/>
            </a:xfrm>
            <a:custGeom>
              <a:avLst/>
              <a:gdLst/>
              <a:ahLst/>
              <a:cxnLst/>
              <a:rect l="l" t="t" r="r" b="b"/>
              <a:pathLst>
                <a:path w="412115" h="381000">
                  <a:moveTo>
                    <a:pt x="411899" y="380999"/>
                  </a:moveTo>
                  <a:lnTo>
                    <a:pt x="0" y="380999"/>
                  </a:lnTo>
                  <a:lnTo>
                    <a:pt x="0" y="0"/>
                  </a:lnTo>
                  <a:lnTo>
                    <a:pt x="411899" y="0"/>
                  </a:lnTo>
                  <a:lnTo>
                    <a:pt x="411899" y="380999"/>
                  </a:lnTo>
                  <a:close/>
                </a:path>
              </a:pathLst>
            </a:custGeom>
            <a:solidFill>
              <a:srgbClr val="92D05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11658550" y="2488736"/>
              <a:ext cx="412115" cy="381000"/>
            </a:xfrm>
            <a:custGeom>
              <a:avLst/>
              <a:gdLst/>
              <a:ahLst/>
              <a:cxnLst/>
              <a:rect l="l" t="t" r="r" b="b"/>
              <a:pathLst>
                <a:path w="412115" h="381000">
                  <a:moveTo>
                    <a:pt x="0" y="0"/>
                  </a:moveTo>
                  <a:lnTo>
                    <a:pt x="411899" y="0"/>
                  </a:lnTo>
                  <a:lnTo>
                    <a:pt x="411899" y="380999"/>
                  </a:lnTo>
                  <a:lnTo>
                    <a:pt x="0" y="380999"/>
                  </a:lnTo>
                  <a:lnTo>
                    <a:pt x="0" y="0"/>
                  </a:lnTo>
                  <a:close/>
                </a:path>
              </a:pathLst>
            </a:custGeom>
            <a:ln w="25399">
              <a:solidFill>
                <a:srgbClr val="00B05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2" name="object 22"/>
          <p:cNvGrpSpPr/>
          <p:nvPr/>
        </p:nvGrpSpPr>
        <p:grpSpPr>
          <a:xfrm>
            <a:off x="3699872" y="3021684"/>
            <a:ext cx="9005111" cy="3097286"/>
            <a:chOff x="3786649" y="3062850"/>
            <a:chExt cx="8405948" cy="3016125"/>
          </a:xfrm>
        </p:grpSpPr>
        <p:sp>
          <p:nvSpPr>
            <p:cNvPr id="23" name="object 23"/>
            <p:cNvSpPr/>
            <p:nvPr/>
          </p:nvSpPr>
          <p:spPr>
            <a:xfrm>
              <a:off x="3786649" y="5697975"/>
              <a:ext cx="412115" cy="381000"/>
            </a:xfrm>
            <a:custGeom>
              <a:avLst/>
              <a:gdLst/>
              <a:ahLst/>
              <a:cxnLst/>
              <a:rect l="l" t="t" r="r" b="b"/>
              <a:pathLst>
                <a:path w="412114" h="381000">
                  <a:moveTo>
                    <a:pt x="411899" y="380999"/>
                  </a:moveTo>
                  <a:lnTo>
                    <a:pt x="0" y="380999"/>
                  </a:lnTo>
                  <a:lnTo>
                    <a:pt x="0" y="0"/>
                  </a:lnTo>
                  <a:lnTo>
                    <a:pt x="411899" y="0"/>
                  </a:lnTo>
                  <a:lnTo>
                    <a:pt x="411899" y="380999"/>
                  </a:lnTo>
                  <a:close/>
                </a:path>
              </a:pathLst>
            </a:custGeom>
            <a:solidFill>
              <a:srgbClr val="FFC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3786649" y="5697975"/>
              <a:ext cx="412115" cy="381000"/>
            </a:xfrm>
            <a:custGeom>
              <a:avLst/>
              <a:gdLst/>
              <a:ahLst/>
              <a:cxnLst/>
              <a:rect l="l" t="t" r="r" b="b"/>
              <a:pathLst>
                <a:path w="412114" h="381000">
                  <a:moveTo>
                    <a:pt x="0" y="0"/>
                  </a:moveTo>
                  <a:lnTo>
                    <a:pt x="411899" y="0"/>
                  </a:lnTo>
                  <a:lnTo>
                    <a:pt x="411899" y="380999"/>
                  </a:lnTo>
                  <a:lnTo>
                    <a:pt x="0" y="380999"/>
                  </a:lnTo>
                  <a:lnTo>
                    <a:pt x="0" y="0"/>
                  </a:lnTo>
                  <a:close/>
                </a:path>
              </a:pathLst>
            </a:custGeom>
            <a:ln w="25399">
              <a:solidFill>
                <a:srgbClr val="00B05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7600710" y="5655283"/>
              <a:ext cx="412115" cy="381000"/>
            </a:xfrm>
            <a:custGeom>
              <a:avLst/>
              <a:gdLst/>
              <a:ahLst/>
              <a:cxnLst/>
              <a:rect l="l" t="t" r="r" b="b"/>
              <a:pathLst>
                <a:path w="412115" h="381000">
                  <a:moveTo>
                    <a:pt x="411899" y="380999"/>
                  </a:moveTo>
                  <a:lnTo>
                    <a:pt x="0" y="380999"/>
                  </a:lnTo>
                  <a:lnTo>
                    <a:pt x="0" y="0"/>
                  </a:lnTo>
                  <a:lnTo>
                    <a:pt x="411899" y="0"/>
                  </a:lnTo>
                  <a:lnTo>
                    <a:pt x="411899" y="380999"/>
                  </a:lnTo>
                  <a:close/>
                </a:path>
              </a:pathLst>
            </a:custGeom>
            <a:solidFill>
              <a:srgbClr val="F6964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7600711" y="5669514"/>
              <a:ext cx="412115" cy="381000"/>
            </a:xfrm>
            <a:custGeom>
              <a:avLst/>
              <a:gdLst/>
              <a:ahLst/>
              <a:cxnLst/>
              <a:rect l="l" t="t" r="r" b="b"/>
              <a:pathLst>
                <a:path w="412115" h="381000">
                  <a:moveTo>
                    <a:pt x="0" y="0"/>
                  </a:moveTo>
                  <a:lnTo>
                    <a:pt x="411899" y="0"/>
                  </a:lnTo>
                  <a:lnTo>
                    <a:pt x="411899" y="380999"/>
                  </a:lnTo>
                  <a:lnTo>
                    <a:pt x="0" y="380999"/>
                  </a:lnTo>
                  <a:lnTo>
                    <a:pt x="0" y="0"/>
                  </a:lnTo>
                  <a:close/>
                </a:path>
              </a:pathLst>
            </a:custGeom>
            <a:ln w="25399">
              <a:solidFill>
                <a:srgbClr val="00B05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11605750" y="5697975"/>
              <a:ext cx="412115" cy="381000"/>
            </a:xfrm>
            <a:custGeom>
              <a:avLst/>
              <a:gdLst/>
              <a:ahLst/>
              <a:cxnLst/>
              <a:rect l="l" t="t" r="r" b="b"/>
              <a:pathLst>
                <a:path w="412115" h="381000">
                  <a:moveTo>
                    <a:pt x="411899" y="380999"/>
                  </a:moveTo>
                  <a:lnTo>
                    <a:pt x="0" y="380999"/>
                  </a:lnTo>
                  <a:lnTo>
                    <a:pt x="0" y="0"/>
                  </a:lnTo>
                  <a:lnTo>
                    <a:pt x="411899" y="0"/>
                  </a:lnTo>
                  <a:lnTo>
                    <a:pt x="411899" y="380999"/>
                  </a:lnTo>
                  <a:close/>
                </a:path>
              </a:pathLst>
            </a:custGeom>
            <a:solidFill>
              <a:srgbClr val="FF7B8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11605750" y="5697975"/>
              <a:ext cx="412115" cy="381000"/>
            </a:xfrm>
            <a:custGeom>
              <a:avLst/>
              <a:gdLst/>
              <a:ahLst/>
              <a:cxnLst/>
              <a:rect l="l" t="t" r="r" b="b"/>
              <a:pathLst>
                <a:path w="412115" h="381000">
                  <a:moveTo>
                    <a:pt x="0" y="0"/>
                  </a:moveTo>
                  <a:lnTo>
                    <a:pt x="411899" y="0"/>
                  </a:lnTo>
                  <a:lnTo>
                    <a:pt x="411899" y="380999"/>
                  </a:lnTo>
                  <a:lnTo>
                    <a:pt x="0" y="380999"/>
                  </a:lnTo>
                  <a:lnTo>
                    <a:pt x="0" y="0"/>
                  </a:lnTo>
                  <a:close/>
                </a:path>
              </a:pathLst>
            </a:custGeom>
            <a:ln w="25399">
              <a:solidFill>
                <a:srgbClr val="00B05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6299162" y="3062850"/>
              <a:ext cx="5893435" cy="2551430"/>
            </a:xfrm>
            <a:custGeom>
              <a:avLst/>
              <a:gdLst/>
              <a:ahLst/>
              <a:cxnLst/>
              <a:rect l="l" t="t" r="r" b="b"/>
              <a:pathLst>
                <a:path w="5893434" h="2551429">
                  <a:moveTo>
                    <a:pt x="0" y="0"/>
                  </a:moveTo>
                  <a:lnTo>
                    <a:pt x="5892899" y="0"/>
                  </a:lnTo>
                  <a:lnTo>
                    <a:pt x="5892899" y="2550899"/>
                  </a:lnTo>
                  <a:lnTo>
                    <a:pt x="0" y="2550899"/>
                  </a:lnTo>
                  <a:lnTo>
                    <a:pt x="0" y="0"/>
                  </a:lnTo>
                  <a:close/>
                </a:path>
              </a:pathLst>
            </a:custGeom>
            <a:ln w="25399">
              <a:solidFill>
                <a:srgbClr val="7F7F7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0" name="object 30"/>
          <p:cNvSpPr txBox="1"/>
          <p:nvPr/>
        </p:nvSpPr>
        <p:spPr>
          <a:xfrm>
            <a:off x="122292" y="6259924"/>
            <a:ext cx="4203881" cy="3346409"/>
          </a:xfrm>
          <a:prstGeom prst="rect">
            <a:avLst/>
          </a:prstGeom>
          <a:ln w="25399">
            <a:solidFill>
              <a:srgbClr val="7F7F7F"/>
            </a:solidFill>
          </a:ln>
        </p:spPr>
        <p:txBody>
          <a:bodyPr vert="horz" wrap="square" lIns="0" tIns="27940" rIns="0" bIns="0" rtlCol="0" anchor="t">
            <a:spAutoFit/>
          </a:bodyPr>
          <a:lstStyle/>
          <a:p>
            <a:pPr marL="85725">
              <a:lnSpc>
                <a:spcPct val="100000"/>
              </a:lnSpc>
              <a:spcBef>
                <a:spcPts val="220"/>
              </a:spcBef>
            </a:pPr>
            <a:endParaRPr sz="2000" spc="-10" dirty="0">
              <a:solidFill>
                <a:srgbClr val="595959"/>
              </a:solidFill>
              <a:latin typeface="Calibri"/>
              <a:cs typeface="Calibri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F16F949C-9AB5-0E16-4587-F5CBA8C7206C}"/>
              </a:ext>
            </a:extLst>
          </p:cNvPr>
          <p:cNvSpPr txBox="1"/>
          <p:nvPr/>
        </p:nvSpPr>
        <p:spPr>
          <a:xfrm>
            <a:off x="126855" y="3018588"/>
            <a:ext cx="6326072" cy="280076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GB" sz="1600" dirty="0"/>
              <a:t>According to the S&amp;P Global </a:t>
            </a:r>
            <a:r>
              <a:rPr lang="en-GB" sz="1600" dirty="0" err="1"/>
              <a:t>FinLit</a:t>
            </a:r>
            <a:r>
              <a:rPr lang="en-GB" sz="1600" dirty="0"/>
              <a:t> Survey, Romania has the lowest financial literacy rate in the EU — only 22% of adults are financially literate, compared to a 52% EU average, leaving people vulnerable to inflation, economic crises, and poor financial decisions.</a:t>
            </a:r>
            <a:endParaRPr lang="en-US" sz="1600"/>
          </a:p>
          <a:p>
            <a:pPr algn="l"/>
            <a:r>
              <a:rPr lang="en-GB" sz="1600" b="1" dirty="0" err="1"/>
              <a:t>FinStart</a:t>
            </a:r>
            <a:r>
              <a:rPr lang="en-GB" sz="1600" dirty="0"/>
              <a:t> is a free mobile application that democratizes financial education for Romanians. </a:t>
            </a:r>
            <a:r>
              <a:rPr lang="en-GB" sz="1600" dirty="0" err="1"/>
              <a:t>FinStart</a:t>
            </a:r>
            <a:r>
              <a:rPr lang="en-GB" sz="1600" dirty="0"/>
              <a:t> equips users with the knowledge to make informed financial decisions — starting from zero.</a:t>
            </a:r>
          </a:p>
          <a:p>
            <a:pPr algn="l"/>
            <a:r>
              <a:rPr lang="en-GB" sz="1600" dirty="0"/>
              <a:t>In times of economic crisis, pandemic, or war, financially literate citizens are more resilient. </a:t>
            </a:r>
          </a:p>
          <a:p>
            <a:pPr algn="l"/>
            <a:r>
              <a:rPr lang="en-GB" sz="1600" dirty="0" err="1"/>
              <a:t>FinStart</a:t>
            </a:r>
            <a:r>
              <a:rPr lang="en-GB" sz="1600" dirty="0"/>
              <a:t> directly addresses this gap.</a:t>
            </a:r>
            <a:endParaRPr lang="en-GB"/>
          </a:p>
          <a:p>
            <a:pPr algn="l"/>
            <a:endParaRPr lang="en-GB" sz="1600" dirty="0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8098C988-880D-FC20-AF38-891F51CE7D71}"/>
              </a:ext>
            </a:extLst>
          </p:cNvPr>
          <p:cNvSpPr txBox="1"/>
          <p:nvPr/>
        </p:nvSpPr>
        <p:spPr>
          <a:xfrm>
            <a:off x="6283891" y="2937353"/>
            <a:ext cx="6517707" cy="255454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GB" sz="1600" b="1"/>
              <a:t>Primary target:</a:t>
            </a:r>
            <a:r>
              <a:rPr lang="en-GB" sz="1600"/>
              <a:t> Romanians aged 16–30 with smartphones and no prior financial knowledge — students, high schoolers, young professionals.</a:t>
            </a:r>
            <a:endParaRPr lang="en-GB" sz="1600">
              <a:solidFill>
                <a:srgbClr val="000000"/>
              </a:solidFill>
            </a:endParaRPr>
          </a:p>
          <a:p>
            <a:r>
              <a:rPr lang="en-GB" sz="1600" b="1"/>
              <a:t>Why this group?</a:t>
            </a:r>
            <a:r>
              <a:rPr lang="en-GB" sz="1600"/>
              <a:t> They are digitally native, in the habit-forming stage of their financial lives, and currently underserved by existing Romanian financial platforms which target experienced investors.</a:t>
            </a:r>
          </a:p>
          <a:p>
            <a:r>
              <a:rPr lang="en-GB" sz="1600" b="1"/>
              <a:t>SDGs addressed:</a:t>
            </a:r>
          </a:p>
          <a:p>
            <a:pPr>
              <a:buFont typeface=""/>
              <a:buChar char="•"/>
            </a:pPr>
            <a:r>
              <a:rPr lang="en-GB" sz="1600" b="1"/>
              <a:t>SDG 4</a:t>
            </a:r>
            <a:r>
              <a:rPr lang="en-GB" sz="1600"/>
              <a:t> — Quality Education: free, accessible financial knowledge </a:t>
            </a:r>
          </a:p>
          <a:p>
            <a:pPr>
              <a:buFont typeface=""/>
              <a:buChar char="•"/>
            </a:pPr>
            <a:r>
              <a:rPr lang="en-GB" sz="1600" b="1"/>
              <a:t>SDG 8</a:t>
            </a:r>
            <a:r>
              <a:rPr lang="en-GB" sz="1600"/>
              <a:t> — Decent Work &amp; Economic Growth</a:t>
            </a:r>
          </a:p>
          <a:p>
            <a:pPr>
              <a:buFont typeface=""/>
              <a:buChar char="•"/>
            </a:pPr>
            <a:r>
              <a:rPr lang="en-GB" sz="1600" b="1"/>
              <a:t>SDG 10</a:t>
            </a:r>
            <a:r>
              <a:rPr lang="en-GB" sz="1600"/>
              <a:t> — Reduced Inequalities between socioeconomic classes</a:t>
            </a:r>
            <a:endParaRPr lang="en-GB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6D542635-29D6-2F2A-9096-E1130CD55E22}"/>
              </a:ext>
            </a:extLst>
          </p:cNvPr>
          <p:cNvSpPr txBox="1"/>
          <p:nvPr/>
        </p:nvSpPr>
        <p:spPr>
          <a:xfrm>
            <a:off x="116909" y="6196208"/>
            <a:ext cx="4164903" cy="369331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GB" b="1" dirty="0"/>
              <a:t>S</a:t>
            </a:r>
            <a:r>
              <a:rPr lang="en-GB" dirty="0"/>
              <a:t>pecific — Deliver structured financial </a:t>
            </a:r>
            <a:r>
              <a:rPr lang="en-GB"/>
              <a:t>education through a mobile app</a:t>
            </a:r>
          </a:p>
          <a:p>
            <a:pPr algn="l"/>
            <a:r>
              <a:rPr lang="en-GB" b="1"/>
              <a:t>M</a:t>
            </a:r>
            <a:r>
              <a:rPr lang="en-GB"/>
              <a:t>easurable — Reach 500 monthly active users within 6 months of launch</a:t>
            </a:r>
          </a:p>
          <a:p>
            <a:pPr algn="l"/>
            <a:r>
              <a:rPr lang="en-GB" b="1"/>
              <a:t>A</a:t>
            </a:r>
            <a:r>
              <a:rPr lang="en-GB"/>
              <a:t>chievable — MVP developed and deployed by May 2026</a:t>
            </a:r>
          </a:p>
          <a:p>
            <a:pPr algn="l"/>
            <a:r>
              <a:rPr lang="en-GB" b="1" dirty="0"/>
              <a:t>R</a:t>
            </a:r>
            <a:r>
              <a:rPr lang="en-GB"/>
              <a:t>elevant — Addresses Romania's financial literacy rate </a:t>
            </a:r>
          </a:p>
          <a:p>
            <a:pPr algn="l"/>
            <a:r>
              <a:rPr lang="en-GB" b="1"/>
              <a:t>T</a:t>
            </a:r>
            <a:r>
              <a:rPr lang="en-GB"/>
              <a:t>ime-bound — Launch MVP: May 2026. Reach 500 MAU: November 2026. Introduce premium tier: Q1 2027.</a:t>
            </a:r>
          </a:p>
          <a:p>
            <a:pPr algn="l"/>
            <a:endParaRPr lang="en-GB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</TotalTime>
  <Words>50</Words>
  <Application>Microsoft Office PowerPoint</Application>
  <PresentationFormat>A3 Paper (297x420 mm)</PresentationFormat>
  <Paragraphs>11</Paragraphs>
  <Slides>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2" baseType="lpstr">
      <vt:lpstr>Office Theme</vt:lpstr>
      <vt:lpstr>PROJECT NAME: FinStart TEAM MEMBERS: Dascalu Luca-Petru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V.I.S.Canvas.pptx</dc:title>
  <cp:lastModifiedBy>Beatrice-Iuliana UŢA (128602)</cp:lastModifiedBy>
  <cp:revision>159</cp:revision>
  <dcterms:created xsi:type="dcterms:W3CDTF">2025-02-07T13:41:18Z</dcterms:created>
  <dcterms:modified xsi:type="dcterms:W3CDTF">2026-04-29T20:31:27Z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2025-02-07T00:00:00Z</vt:filetime>
  </property>
  <property fmtid="{D5CDD505-2E9C-101B-9397-08002B2CF9AE}" pid="3" name="Creator">
    <vt:lpwstr>Google</vt:lpwstr>
  </property>
  <property fmtid="{D5CDD505-2E9C-101B-9397-08002B2CF9AE}" pid="4" name="LastSaved">
    <vt:filetime>2025-02-07T00:00:00Z</vt:filetime>
  </property>
</Properties>
</file>